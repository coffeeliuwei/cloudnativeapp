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E8A427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22960" y="1371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3FA7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11 章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把微服务部署到阿里云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27889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多路径上云 · 从本地一步步搬上云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822960" y="3977640"/>
            <a:ext cx="3383280" cy="1143000"/>
          </a:xfrm>
          <a:prstGeom prst="roundRect">
            <a:avLst>
              <a:gd name="adj" fmla="val 6400"/>
            </a:avLst>
          </a:prstGeom>
          <a:solidFill>
            <a:srgbClr val="112E54"/>
          </a:solidFill>
          <a:ln w="19050">
            <a:solidFill>
              <a:srgbClr val="E8A42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41148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B · EDAS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6868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⭐ 推荐主线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80560" y="3977640"/>
            <a:ext cx="3383280" cy="1143000"/>
          </a:xfrm>
          <a:prstGeom prst="roundRect">
            <a:avLst>
              <a:gd name="adj" fmla="val 6400"/>
            </a:avLst>
          </a:prstGeom>
          <a:solidFill>
            <a:srgbClr val="112E54"/>
          </a:solidFill>
          <a:ln w="19050">
            <a:solidFill>
              <a:srgbClr val="3FA7B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526280" y="41148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C · SAE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2628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A7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Serverless 弹性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3977640"/>
            <a:ext cx="3383280" cy="1143000"/>
          </a:xfrm>
          <a:prstGeom prst="roundRect">
            <a:avLst>
              <a:gd name="adj" fmla="val 6400"/>
            </a:avLst>
          </a:prstGeom>
          <a:solidFill>
            <a:srgbClr val="112E54"/>
          </a:solidFill>
          <a:ln w="19050">
            <a:solidFill>
              <a:srgbClr val="8A98A8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183880" y="41148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A · ECS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18388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🔧 进阶 / 选读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56692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3D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贯穿主线：能在控制台点鼠标完成的，就不让你敲命令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OBJECTIVE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本章目标 &amp; 学习主线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371600"/>
            <a:ext cx="5486400" cy="475488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05840" y="1600200"/>
            <a:ext cx="502920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B2545"/>
                </a:solidFill>
              </a:rPr>
              <a:t>目标：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C2B3A"/>
                </a:solidFill>
              </a:rPr>
              <a:t>把第 5 章在本地跑通的整套项目（3 个后端 + Vue 前端 + MySQL + Nacos），原封不动搬到阿里云上运行。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B2545"/>
                </a:solidFill>
              </a:rPr>
              <a:t>核心理念：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C2B3A"/>
                </a:solidFill>
              </a:rPr>
              <a:t>本地做过的每一步，在云上一一对应替换——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C7293"/>
                </a:solidFill>
              </a:rPr>
              <a:t>云原生不是重学一套，而是“换个地方跑同一份 jar”。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B2545"/>
                </a:solidFill>
              </a:rPr>
              <a:t>关键洞察：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C2B3A"/>
                </a:solidFill>
              </a:rPr>
              <a:t>jar 一行不改，只靠环境变量 / 启动参数告诉它连云上的地址。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92240" y="1371600"/>
            <a:ext cx="4937760" cy="475488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1554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关键升级：一机三进程 → 一机一微服务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766560" y="2194560"/>
            <a:ext cx="2011680" cy="2286000"/>
          </a:xfrm>
          <a:prstGeom prst="roundRect">
            <a:avLst>
              <a:gd name="adj" fmla="val 2727"/>
            </a:avLst>
          </a:prstGeom>
          <a:solidFill>
            <a:srgbClr val="EEF3FA"/>
          </a:solidFill>
          <a:ln w="15875">
            <a:solidFill>
              <a:srgbClr val="13457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812280" y="2194560"/>
            <a:ext cx="1920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66560" y="233172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457A"/>
                </a:solidFill>
              </a:rPr>
              <a:t>本地（第5章）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C2B3A"/>
                </a:solidFill>
              </a:rPr>
              <a:t>一台笔记本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C2B3A"/>
                </a:solidFill>
              </a:rPr>
              <a:t>跑 3 个进程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C2B3A"/>
                </a:solidFill>
              </a:rPr>
              <a:t>靠端口区分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15400" y="3337560"/>
            <a:ext cx="548640" cy="0"/>
          </a:xfrm>
          <a:prstGeom prst="line">
            <a:avLst/>
          </a:prstGeom>
          <a:noFill/>
          <a:ln w="25400">
            <a:solidFill>
              <a:srgbClr val="E8A4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601200" y="2194560"/>
            <a:ext cx="1737360" cy="658368"/>
          </a:xfrm>
          <a:prstGeom prst="roundRect">
            <a:avLst>
              <a:gd name="adj" fmla="val 8333"/>
            </a:avLst>
          </a:prstGeom>
          <a:solidFill>
            <a:srgbClr val="FFF6E6"/>
          </a:solidFill>
          <a:ln w="15875">
            <a:solidFill>
              <a:srgbClr val="E8A427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646920" y="2194560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ECS-1 userorder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601200" y="2999232"/>
            <a:ext cx="1737360" cy="658368"/>
          </a:xfrm>
          <a:prstGeom prst="roundRect">
            <a:avLst>
              <a:gd name="adj" fmla="val 8333"/>
            </a:avLst>
          </a:prstGeom>
          <a:solidFill>
            <a:srgbClr val="FFF6E6"/>
          </a:solidFill>
          <a:ln w="15875">
            <a:solidFill>
              <a:srgbClr val="E8A427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646920" y="2999232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ECS-2 expresstrack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601200" y="3803904"/>
            <a:ext cx="1737360" cy="658368"/>
          </a:xfrm>
          <a:prstGeom prst="roundRect">
            <a:avLst>
              <a:gd name="adj" fmla="val 8333"/>
            </a:avLst>
          </a:prstGeom>
          <a:solidFill>
            <a:srgbClr val="FFF6E6"/>
          </a:solidFill>
          <a:ln w="15875">
            <a:solidFill>
              <a:srgbClr val="E8A427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646920" y="3803904"/>
            <a:ext cx="1645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ECS-3 app + Nginx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66560" y="4617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共用：MSE Nacos + RDS MySQL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75120" y="507492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故障隔离 · 独立扩容 · 独立发布 —— 这才是微服务该有的样子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OVERVIEW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三种上云形态：责任从重到轻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41732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77240" y="1417320"/>
            <a:ext cx="3566160" cy="640080"/>
          </a:xfrm>
          <a:prstGeom prst="rect">
            <a:avLst/>
          </a:prstGeom>
          <a:solidFill>
            <a:srgbClr val="8A98A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1463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A · IaaS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" y="21488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 自管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97280" y="260604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你装系统/JDK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你 scp 上传 jar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你写脚本起进程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你看日志排障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68680" y="50292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控制力最强 · 运维最重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81144" y="141732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581144" y="1417320"/>
            <a:ext cx="3566160" cy="640080"/>
          </a:xfrm>
          <a:prstGeom prst="rect">
            <a:avLst/>
          </a:prstGeom>
          <a:solidFill>
            <a:srgbClr val="E8A427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672584" y="1463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B · PaaS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672584" y="21488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EDAS 托管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901184" y="260604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你上传 jar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平台装 JDK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平台起/重启进程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治理可视化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672584" y="50292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省心 · 有服务治理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385048" y="141732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385048" y="1417320"/>
            <a:ext cx="3566160" cy="640080"/>
          </a:xfrm>
          <a:prstGeom prst="rect">
            <a:avLst/>
          </a:prstGeom>
          <a:solidFill>
            <a:srgbClr val="3FA7B8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476488" y="1463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C · Serverless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476488" y="21488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SAE 托管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705088" y="2606040"/>
            <a:ext cx="3017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你提交代码/ jar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平台打包伸缩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按需自动伸缩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按 vCPU·秒计费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476488" y="50292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最省运维 · 弹性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77240" y="5806440"/>
            <a:ext cx="10652760" cy="594360"/>
          </a:xfrm>
          <a:prstGeom prst="roundRect">
            <a:avLst>
              <a:gd name="adj" fmla="val 9231"/>
            </a:avLst>
          </a:prstGeom>
          <a:solidFill>
            <a:srgbClr val="EAF1F8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14400" y="580644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核心权衡：</a:t>
            </a:r>
            <a:pPr indent="0" marL="0">
              <a:buNone/>
            </a:pPr>
            <a:r>
              <a:rPr lang="en-US" sz="13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越往下，运维负担越轻，但对底层的控制力也越弱。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E8A42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THE MAIN LINE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本课程主线：能点鼠标，就不敲命令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3258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初学者习惯用鼠标而不是键盘——凡控制台能点点生成的服务，一律优先；命令行只作进阶备选。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1965960"/>
            <a:ext cx="106527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77240" y="1965960"/>
            <a:ext cx="128016" cy="1143000"/>
          </a:xfrm>
          <a:prstGeom prst="rect">
            <a:avLst/>
          </a:prstGeom>
          <a:solidFill>
            <a:srgbClr val="E8A427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05840" y="207568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⭐ 推荐主线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66160" y="2075688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B · EDAS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0" y="2075688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控制台点鼠标部署，不用 SSH、不装 JDK、不写脚本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777240" y="3291840"/>
            <a:ext cx="106527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77240" y="3291840"/>
            <a:ext cx="128016" cy="1143000"/>
          </a:xfrm>
          <a:prstGeom prst="rect">
            <a:avLst/>
          </a:prstGeom>
          <a:solidFill>
            <a:srgbClr val="3FA7B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005840" y="340156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推荐（弹性场景）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566160" y="3401568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C · SAE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00800" y="3401568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控制台点鼠标，Serverless 按需自动伸缩、免运维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777240" y="4617720"/>
            <a:ext cx="1065276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777240" y="4617720"/>
            <a:ext cx="128016" cy="1143000"/>
          </a:xfrm>
          <a:prstGeom prst="rect">
            <a:avLst/>
          </a:prstGeom>
          <a:solidFill>
            <a:srgbClr val="8A98A8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72744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🔧 进阶 / 选读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566160" y="4727448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A · ECS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400800" y="4727448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终端敲命令：装 JDK、scp、chmod、manage.sh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22960" y="60807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学习顺序建议：先做点击式 EDAS 跑通建立信心 → 想懂底层再回头做路径 A。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FOUNDATIONS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动手前必懂的 4 个概念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46304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1051560" y="1755648"/>
            <a:ext cx="640080" cy="640080"/>
          </a:xfrm>
          <a:prstGeom prst="ellipse">
            <a:avLst/>
          </a:prstGeom>
          <a:solidFill>
            <a:srgbClr val="13457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51560" y="17556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874520" y="175564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VPC 专有网络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97280" y="25146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 / RDS / Nacos 同一 VPC 走内网：快、免费、安全。铁律：同地域、同 VPC。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17920" y="146304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492240" y="1755648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92240" y="17556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315200" y="175564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ENV 开关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537960" y="25146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spring.profiles.active=${ENV:dev}；本地走 dev，启动加 -DENV=prod 切到生产配置。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77240" y="379476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051560" y="4087368"/>
            <a:ext cx="640080" cy="640080"/>
          </a:xfrm>
          <a:prstGeom prst="ellipse">
            <a:avLst/>
          </a:prstGeom>
          <a:solidFill>
            <a:srgbClr val="3FA7B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051560" y="40873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874520" y="408736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环境变量驱动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97280" y="48463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${DB_HOST:默认值} 等——同一份 jar，靠启动参数注入云上地址，配置与代码分离。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217920" y="379476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6492240" y="4087368"/>
            <a:ext cx="640080" cy="640080"/>
          </a:xfrm>
          <a:prstGeom prst="ellipse">
            <a:avLst/>
          </a:prstGeom>
          <a:solidFill>
            <a:srgbClr val="E8A427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492240" y="40873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315200" y="408736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注册中心 vs 配置中心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537960" y="48463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都用 Nacos 但用途不同：Dubbo 用它找服务；Spring 用它拉配置（本项目 optional，可不连）。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RESOURCES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公共云资源准备（A/B/C 都要）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4630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1051560" y="1691640"/>
            <a:ext cx="146304" cy="457200"/>
          </a:xfrm>
          <a:prstGeom prst="rect">
            <a:avLst/>
          </a:prstGeom>
          <a:solidFill>
            <a:srgbClr val="13457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280160" y="166420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台 ECS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097280" y="22860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每台跑 1 个微服务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ECS-1/2/3 · 2核2G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81144" y="14630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855464" y="1691640"/>
            <a:ext cx="146304" cy="4572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084064" y="166420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RDS MySQL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901184" y="22860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云数据库 8.0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两个库 userorder/express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385048" y="14630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659368" y="1691640"/>
            <a:ext cx="146304" cy="457200"/>
          </a:xfrm>
          <a:prstGeom prst="rect">
            <a:avLst/>
          </a:prstGeom>
          <a:solidFill>
            <a:srgbClr val="3FA7B8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887968" y="1664208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MSE Nacos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705088" y="22860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注册中心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专业版（SAE 集成需要）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77240" y="3703320"/>
            <a:ext cx="10652760" cy="731520"/>
          </a:xfrm>
          <a:prstGeom prst="roundRect">
            <a:avLst>
              <a:gd name="adj" fmla="val 7500"/>
            </a:avLst>
          </a:prstGeom>
          <a:solidFill>
            <a:srgbClr val="FBE9D0"/>
          </a:solidFill>
          <a:ln w="15875">
            <a:solidFill>
              <a:srgbClr val="E8A427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60120" y="370332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🔥 铁律：</a:t>
            </a:r>
            <a:pPr indent="0" marL="0">
              <a:buNone/>
            </a:pPr>
            <a:r>
              <a:rPr lang="en-US" sz="14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 / RDS / MSE Nacos 必须同一地域、同一 VPC——创建后大多不可改，错了只能删了重建。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77240" y="4663440"/>
            <a:ext cx="106527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60120" y="4800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内外网怎么用（最常踩的坑）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188720" y="5212080"/>
            <a:ext cx="9966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C2B3A"/>
                </a:solidFill>
              </a:rPr>
              <a:t>云上应用连 RDS / Nacos → 一律用内网地址（快、免费、安全）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C2B3A"/>
                </a:solidFill>
              </a:rPr>
              <a:t>你本地电脑灌数据 / 调试 → 临时用外网地址 + 白名单（教学权宜）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b="1" dirty="0">
                <a:solidFill>
                  <a:srgbClr val="1C7293"/>
                </a:solidFill>
              </a:rPr>
              <a:t>RDS / MSE 各有独立白名单（与 VPC 无关）：SAE 实例 IP 从 虚拟交换机 网段动态分配，要把整个网段加进白名单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RESOURCES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创建 MSE Nacos 实例（A/B/C 共用前提）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三条路径的 Dubbo 服务都注册到这同一个 Nacos——动手前必须先把它建出来（详见 06 章 Part 3）。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" y="1783080"/>
            <a:ext cx="594360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60120" y="192024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进 MSE 控制台建 Nacos 实例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2304288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搜“微服务引擎 MSE”→ 左侧“注册配置中心”→“创建实例”：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60120" y="2697480"/>
          <a:ext cx="5669280" cy="2084832"/>
        </p:xfrm>
        <a:graphic>
          <a:graphicData uri="http://schemas.openxmlformats.org/drawingml/2006/table">
            <a:tbl>
              <a:tblPr/>
              <a:tblGrid>
                <a:gridCol w="1737360"/>
                <a:gridCol w="393192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填什么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产品版本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5630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专业版（SAE 集成只认专业版）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引擎 / 版本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Nacos / 2.x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集群节点数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5630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3（专业版最少 3 节点）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地域 / VPC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与 ECS / RDS 完全一致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公网带宽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拉到 &gt;0 才开公网（本地调试用）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960120" y="49834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等状态“运行中”→ 详情页记下内网 + 公网两个接入地址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960120" y="539496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内网地址给云上 ECS/SAE 用（快、免费）；公网地址给本地调试（需在“网络配置→公网白名单”填 0.0.0.0/0，仅教学，生产禁用）。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903720" y="1783080"/>
            <a:ext cx="4526280" cy="4251960"/>
          </a:xfrm>
          <a:prstGeom prst="roundRect">
            <a:avLst>
              <a:gd name="adj" fmla="val 1290"/>
            </a:avLst>
          </a:prstGeom>
          <a:solidFill>
            <a:srgbClr val="EFF3F8"/>
          </a:solidFill>
          <a:ln w="12700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822960" y="614476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🔥 规格必须选专业版（Dubbo 3.x 走 SAE 的“MSE Nacos 专业版”官方集成，开发测试版接不进去）；且与 ECS / RDS 同地域、同 VPC。</a:t>
            </a:r>
            <a:endParaRPr lang="en-US" sz="1150" dirty="0"/>
          </a:p>
        </p:txBody>
      </p:sp>
      <p:pic>
        <p:nvPicPr>
          <p:cNvPr id="18" name="Picture 17" descr="p8934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2959144"/>
            <a:ext cx="4526280" cy="1899832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MODULES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项目模块：3 个库 + 3 个应用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463040"/>
            <a:ext cx="4937760" cy="2194560"/>
          </a:xfrm>
          <a:prstGeom prst="roundRect">
            <a:avLst>
              <a:gd name="adj" fmla="val 3333"/>
            </a:avLst>
          </a:prstGeom>
          <a:solidFill>
            <a:srgbClr val="EEF3FA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6012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45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库模块（被依赖，不独立运行）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05840" y="2057400"/>
            <a:ext cx="448056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13457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51560" y="20574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coffee-common · 公共工具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1005840" y="2560320"/>
            <a:ext cx="448056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13457A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051560" y="25603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coffee-userorder/api · 订单接口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1005840" y="3063240"/>
            <a:ext cx="448056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13457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051560" y="306324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coffee-expresstrack/api · 快递接口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89320" y="146304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FFF6E6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172200" y="1600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应用模块（打成 jar 部署运行）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17920" y="2057400"/>
            <a:ext cx="50292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E8A427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263640" y="20574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coffee-userorder/provider → ECS-1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17920" y="2560320"/>
            <a:ext cx="50292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E8A427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263640" y="25603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coffee-expresstrack/provider → ECS-2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17920" y="3063240"/>
            <a:ext cx="50292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E8A427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263640" y="30632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coffee-app（网关）→ ECS-3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77240" y="3886200"/>
            <a:ext cx="1065276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60120" y="40233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制品流：库是“中转站”，应用构建时来拉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1097280" y="466344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EEF3FA"/>
          </a:solidFill>
          <a:ln w="15875">
            <a:solidFill>
              <a:srgbClr val="13457A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1143000" y="46634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个库模块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566160" y="5120640"/>
            <a:ext cx="82296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3291840" y="495604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mvn deploy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480560" y="4663440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4526280" y="46634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云效私有仓库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(任何机器可拉)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315200" y="5120640"/>
            <a:ext cx="82296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7040880" y="495604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构建时拉取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229600" y="4663440"/>
            <a:ext cx="3017520" cy="914400"/>
          </a:xfrm>
          <a:prstGeom prst="roundRect">
            <a:avLst>
              <a:gd name="adj" fmla="val 6000"/>
            </a:avLst>
          </a:prstGeom>
          <a:solidFill>
            <a:srgbClr val="FFF6E6"/>
          </a:solidFill>
          <a:ln w="15875">
            <a:solidFill>
              <a:srgbClr val="E8A427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8275320" y="46634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 mvn package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3 个 jar → 上云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60120" y="58064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⭐ 日常迭代推荐交给云效流水线自动构建，本地 mvn 命令属进阶/理解原理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E8A42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B · 推荐主线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B：EDAS 部署全流程（6 步点鼠标）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280160"/>
            <a:ext cx="10652760" cy="530352"/>
          </a:xfrm>
          <a:prstGeom prst="roundRect">
            <a:avLst>
              <a:gd name="adj" fmla="val 10345"/>
            </a:avLst>
          </a:prstGeom>
          <a:solidFill>
            <a:srgbClr val="FBE9D0"/>
          </a:solidFill>
          <a:ln w="12700">
            <a:solidFill>
              <a:srgbClr val="E8A427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60120" y="1280160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✅ 本课程默认上云方式：全程 EDAS 网页控制台点鼠标——不用 SSH、不装 JDK、不写 manage.sh。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7240" y="2423160"/>
            <a:ext cx="1627632" cy="1143000"/>
          </a:xfrm>
          <a:prstGeom prst="roundRect">
            <a:avLst>
              <a:gd name="adj" fmla="val 4800"/>
            </a:avLst>
          </a:prstGeom>
          <a:solidFill>
            <a:srgbClr val="FBE9D0"/>
          </a:solidFill>
          <a:ln w="15875">
            <a:solidFill>
              <a:srgbClr val="E8A427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2960" y="2423160"/>
            <a:ext cx="15361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①确认出方向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默认放行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414016" y="2990088"/>
            <a:ext cx="210312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2642616" y="2423160"/>
            <a:ext cx="1627632" cy="1143000"/>
          </a:xfrm>
          <a:prstGeom prst="roundRect">
            <a:avLst>
              <a:gd name="adj" fmla="val 4800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2688336" y="2423160"/>
            <a:ext cx="15361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②建微服务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空间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279392" y="2990088"/>
            <a:ext cx="210312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507992" y="2423160"/>
            <a:ext cx="1627632" cy="1143000"/>
          </a:xfrm>
          <a:prstGeom prst="roundRect">
            <a:avLst>
              <a:gd name="adj" fmla="val 4800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553712" y="2423160"/>
            <a:ext cx="15361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③建 ECS 集群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 3 台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44768" y="2990088"/>
            <a:ext cx="210312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373368" y="2423160"/>
            <a:ext cx="1627632" cy="1143000"/>
          </a:xfrm>
          <a:prstGeom prst="roundRect">
            <a:avLst>
              <a:gd name="adj" fmla="val 4800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419088" y="2423160"/>
            <a:ext cx="15361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④建应用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 jar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010144" y="2990088"/>
            <a:ext cx="210312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8238744" y="2423160"/>
            <a:ext cx="1627632" cy="1143000"/>
          </a:xfrm>
          <a:prstGeom prst="roundRect">
            <a:avLst>
              <a:gd name="adj" fmla="val 4800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284464" y="2423160"/>
            <a:ext cx="15361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⑤填 JVM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75520" y="2990088"/>
            <a:ext cx="210312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0104120" y="2423160"/>
            <a:ext cx="1627632" cy="1143000"/>
          </a:xfrm>
          <a:prstGeom prst="roundRect">
            <a:avLst>
              <a:gd name="adj" fmla="val 4800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10149840" y="2423160"/>
            <a:ext cx="15361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⑥验证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服务治理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7240" y="3931920"/>
            <a:ext cx="10652760" cy="713232"/>
          </a:xfrm>
          <a:prstGeom prst="roundRect">
            <a:avLst>
              <a:gd name="adj" fmla="val 7692"/>
            </a:avLst>
          </a:prstGeom>
          <a:solidFill>
            <a:srgbClr val="FFF6E6"/>
          </a:solidFill>
          <a:ln w="12700">
            <a:solidFill>
              <a:srgbClr val="E8A42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960120" y="3931920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出方向默认全放行，通常无需配置；若被收紧过，会出现“微服务治理”页“没有数据”。</a:t>
            </a:r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/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22960" y="48463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和路径 A 比：路径 A 你自己装 JDK、scp、起进程；路径 B 这些 EDAS 全自动，你只在网页上选“把 X 应用部署到 ECS-Y”。后面 5 页逐步配。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E8A42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B · 步骤 ①②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确认出方向放行 + 建微服务空间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280160"/>
            <a:ext cx="521208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60120" y="1417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确认 3 台 ECS 出方向默认放行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188720" y="18745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B3A"/>
                </a:solidFill>
              </a:rPr>
              <a:t>ECS 控制台 → ECS 的“安全组”→ 访问规则 → 出方向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C2B3A"/>
                </a:solidFill>
              </a:rPr>
              <a:t>确认默认“允许全部”规则还在即可。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0B2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EDAS 导入时还会自动添加所需规则，勿删改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C2B3A"/>
                </a:solidFill>
              </a:rPr>
              <a:t>官方未要求手动加任何出方向端口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188720" y="40690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出方向被收紧 → 治理页“没有数据”。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1280160"/>
            <a:ext cx="5212080" cy="4663440"/>
          </a:xfrm>
          <a:prstGeom prst="roundRect">
            <a:avLst>
              <a:gd name="adj" fmla="val 1569"/>
            </a:avLst>
          </a:prstGeom>
          <a:solidFill>
            <a:srgbClr val="FFF6E6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0" y="1417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创建微服务空间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00800" y="18288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EDAS 控制台 → 资源管理 → 微服务空间 → 创建：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194560"/>
          <a:ext cx="48463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2918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填什么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空间名称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coffee-prod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地域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跟 ECS 同地域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注册中心类型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5630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MSE Nacos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MSE 实例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选你创建的那个实例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6400800" y="470916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⚠ 必须选 MSE Nacos，不能用 EDAS 默认注册中心——它不支持 Dubbo 3.x，治理页查不到服务。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E8A42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B · 步骤 ③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创建 ECS 集群 + 导入 3 台 ECS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325880"/>
            <a:ext cx="585216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6012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创建 EDAS ECS 集群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60120" y="1874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资源管理 → EDAS ECS 集群 → 创建集群：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60120" y="2240280"/>
          <a:ext cx="55778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8404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填什么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集群名称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coffeecluster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微服务空间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coffee-prod（刚建的）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网络类型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专有网络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VPC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与你 ECS 相同的那个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960120" y="4617720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导入主机：进集群详情 → 添加 ECS 实例 → 勾 ECS-1/2/3 → 下一步 → 导入。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960120" y="544068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等 3-5 分钟，3 台显示“运行中”+“已安装 Agent”。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858000" y="1325880"/>
            <a:ext cx="4572000" cy="4663440"/>
          </a:xfrm>
          <a:prstGeom prst="roundRect">
            <a:avLst>
              <a:gd name="adj" fmla="val 1200"/>
            </a:avLst>
          </a:prstGeom>
          <a:solidFill>
            <a:srgbClr val="EFF3F8"/>
          </a:solidFill>
          <a:ln w="12700">
            <a:solidFill>
              <a:srgbClr val="C9D4E0"/>
            </a:solidFill>
            <a:prstDash val="solid"/>
          </a:ln>
        </p:spPr>
        <p:txBody>
          <a:bodyPr/>
          <a:p/>
        </p:txBody>
      </p:sp>
      <p:pic>
        <p:nvPicPr>
          <p:cNvPr id="16" name="Picture 15" descr="p5212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2062883"/>
            <a:ext cx="4572000" cy="3189434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E8A42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B · 步骤 ④⑤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创建应用 userorder + 填 JVM 参数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1887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应用管理 → 应用列表 → 创建应用，按下表填：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55448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75488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填什么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应用名称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userorder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微服务空间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coffee-prod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集群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coffeecluster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运行环境 / JDK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Java / OpenJDK 17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部署包来源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上传 JAR 包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选择文件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coffee-userorder/provider/target/*.jar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部署 ECS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5630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只勾 ECS-1（另两台不勾）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7772400" y="1554480"/>
            <a:ext cx="3657600" cy="3200400"/>
          </a:xfrm>
          <a:prstGeom prst="roundRect">
            <a:avLst>
              <a:gd name="adj" fmla="val 2286"/>
            </a:avLst>
          </a:prstGeom>
          <a:solidFill>
            <a:srgbClr val="FFF6E6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7955280" y="16916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⑤ JVM 参数（填实际 RDS 值）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909560" y="2286000"/>
            <a:ext cx="3429000" cy="2286000"/>
          </a:xfrm>
          <a:prstGeom prst="roundRect">
            <a:avLst>
              <a:gd name="adj" fmla="val 2000"/>
            </a:avLst>
          </a:prstGeom>
          <a:solidFill>
            <a:srgbClr val="0E2236"/>
          </a:solidFill>
          <a:ln w="12700">
            <a:solidFill>
              <a:srgbClr val="1C3A52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8074152" y="2359152"/>
            <a:ext cx="309981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-Xms128m -Xmx512m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-DENV=prod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-DDB_HOST=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rm-xxx:3306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-DDB_USER=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userordertest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-DDB_PASSWORD=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你的RDS密码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22960" y="52578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确认创建 → 等 2-3 分钟状态变“运行中”。注册地址由 Agent 自动接管，JVM 里不用写 Nacos 地址。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E8A42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B · 步骤 ④⑥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部署快递 / 网关 + 验证服务治理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280160"/>
            <a:ext cx="5212080" cy="2377440"/>
          </a:xfrm>
          <a:prstGeom prst="roundRect">
            <a:avLst>
              <a:gd name="adj" fmla="val 3077"/>
            </a:avLst>
          </a:prstGeom>
          <a:solidFill>
            <a:srgbClr val="EAF1F8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60120" y="1417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快递 expresstrack（改 4 处）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874520"/>
            <a:ext cx="4663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3A"/>
                </a:solidFill>
              </a:rPr>
              <a:t>应用名 expresstrack；jar 选 expresstrack 的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3A"/>
                </a:solidFill>
              </a:rPr>
              <a:t>部署 ECS 只勾 ECS-2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2B3A"/>
                </a:solidFill>
              </a:rPr>
              <a:t>JVM 参数与 userorder 完全一样（库名已硬编码）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280160"/>
            <a:ext cx="5212080" cy="2377440"/>
          </a:xfrm>
          <a:prstGeom prst="roundRect">
            <a:avLst>
              <a:gd name="adj" fmla="val 3077"/>
            </a:avLst>
          </a:prstGeom>
          <a:solidFill>
            <a:srgbClr val="FFF6E6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00800" y="1417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网关 coffee-app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29400" y="1874520"/>
            <a:ext cx="4663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3A"/>
                </a:solidFill>
              </a:rPr>
              <a:t>应用名 coffee-app；jar 选 coffee-app 的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3A"/>
                </a:solidFill>
              </a:rPr>
              <a:t>部署 ECS 只勾 ECS-3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2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JVM 只填 -Xms128m -Xmx256m -DENV=prod（网关不连库）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37947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顺序：先 userorder / expresstrack，最后 coffee-app（反了网关会有几秒“找不到提供者”警告，不影响）。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77240" y="4297680"/>
            <a:ext cx="1065276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60120" y="4434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⑥ 验证服务治理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88720" y="4846320"/>
            <a:ext cx="9966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微服务治理 → Dubbo → 服务查询 → 顶部“所属微服务空间”选 coffee-prod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C7293"/>
                </a:solidFill>
              </a:rPr>
              <a:t>看到 com.coffee.yun.userorder.api.OrderService 等接口 → 点进“提供者”看到 ECS 私网 IP = 成功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3FA7B8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7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C · Serverless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C：SAE（连 ECS 都不用买）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417320"/>
            <a:ext cx="5212080" cy="4572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60120" y="15544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它怎么省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2057400"/>
            <a:ext cx="46634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B3A"/>
                </a:solidFill>
              </a:rPr>
              <a:t>不买 ECS，平台按需弹出“无服务器实例”跑 jar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B3A"/>
                </a:solidFill>
              </a:rPr>
              <a:t>实例数最小为 1（创建时“实例数”字段就是 1，填不了 0）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B3A"/>
                </a:solidFill>
              </a:rPr>
              <a:t>按 vCPU·秒 + 内存 GB·秒计费（用多少付多少）；公网 CLB 另计费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C2B3A"/>
                </a:solidFill>
              </a:rPr>
              <a:t>命名空间选 MSE Nacos，部署=上传 jar + 填环境变量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C2B3A"/>
                </a:solidFill>
              </a:rPr>
              <a:t>公网入口：给 coffee-app 加“公网 CLB 访问”（SAE 2.0 现称 CLB，经典版叫 SLB）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17920" y="1417320"/>
            <a:ext cx="5212080" cy="4572000"/>
          </a:xfrm>
          <a:prstGeom prst="roundRect">
            <a:avLst>
              <a:gd name="adj" fmla="val 1600"/>
            </a:avLst>
          </a:prstGeom>
          <a:solidFill>
            <a:srgbClr val="FFF8EC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00800" y="15544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两个关键坑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46520" y="2057400"/>
            <a:ext cx="46634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B2545"/>
                </a:solidFill>
              </a:rPr>
              <a:t>网络坑：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1C2B3A"/>
                </a:solidFill>
              </a:rPr>
              <a:t>RDS / MSE 各有独立的访问白名单，和 VPC 无关——就算同 VPC、网络通，源 IP 不在白名单照样连不上。SAE 实例 IP 从 虚拟交换机 网段动态分配（弹性 ENI、会变），没有固定 IP，所以要把整个 虚拟交换机 网段加进 RDS / MSE 白名单。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B2545"/>
                </a:solidFill>
              </a:rPr>
              <a:t>弹性坑：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C2B3A"/>
                </a:solidFill>
              </a:rPr>
              <a:t>三个应用都保持至少 1 个常驻实例；Dubbo provider 尤其不能被弹性策略回收，否则调用方瞬间报 RPC 错误。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3FA7B8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7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C · 详解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SAE 配置全流程（6 步，全程点鼠标）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2743200"/>
            <a:ext cx="1627632" cy="1188720"/>
          </a:xfrm>
          <a:prstGeom prst="roundRect">
            <a:avLst>
              <a:gd name="adj" fmla="val 4615"/>
            </a:avLst>
          </a:prstGeom>
          <a:solidFill>
            <a:srgbClr val="EAF1F8"/>
          </a:solidFill>
          <a:ln w="15875">
            <a:solidFill>
              <a:srgbClr val="3FA7B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2743200"/>
            <a:ext cx="15361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①开通 SAE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414016" y="3337560"/>
            <a:ext cx="210312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642616" y="2743200"/>
            <a:ext cx="1627632" cy="1188720"/>
          </a:xfrm>
          <a:prstGeom prst="roundRect">
            <a:avLst>
              <a:gd name="adj" fmla="val 4615"/>
            </a:avLst>
          </a:prstGeom>
          <a:solidFill>
            <a:srgbClr val="EAF1F8"/>
          </a:solidFill>
          <a:ln w="15875">
            <a:solidFill>
              <a:srgbClr val="3FA7B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688336" y="2743200"/>
            <a:ext cx="15361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②建命名空间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279392" y="3337560"/>
            <a:ext cx="210312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507992" y="2743200"/>
            <a:ext cx="1627632" cy="1188720"/>
          </a:xfrm>
          <a:prstGeom prst="roundRect">
            <a:avLst>
              <a:gd name="adj" fmla="val 4615"/>
            </a:avLst>
          </a:prstGeom>
          <a:solidFill>
            <a:srgbClr val="FBE9D0"/>
          </a:solidFill>
          <a:ln w="15875">
            <a:solidFill>
              <a:srgbClr val="E8A427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553712" y="2743200"/>
            <a:ext cx="15361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③加白名单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(虚拟交换机)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3337560"/>
            <a:ext cx="210312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373368" y="2743200"/>
            <a:ext cx="1627632" cy="1188720"/>
          </a:xfrm>
          <a:prstGeom prst="roundRect">
            <a:avLst>
              <a:gd name="adj" fmla="val 4615"/>
            </a:avLst>
          </a:prstGeom>
          <a:solidFill>
            <a:srgbClr val="EAF1F8"/>
          </a:solidFill>
          <a:ln w="15875">
            <a:solidFill>
              <a:srgbClr val="3FA7B8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19088" y="2743200"/>
            <a:ext cx="15361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④部署 3 应用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010144" y="3337560"/>
            <a:ext cx="210312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8238744" y="2743200"/>
            <a:ext cx="1627632" cy="1188720"/>
          </a:xfrm>
          <a:prstGeom prst="roundRect">
            <a:avLst>
              <a:gd name="adj" fmla="val 4615"/>
            </a:avLst>
          </a:prstGeom>
          <a:solidFill>
            <a:srgbClr val="EAF1F8"/>
          </a:solidFill>
          <a:ln w="15875">
            <a:solidFill>
              <a:srgbClr val="3FA7B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284464" y="2743200"/>
            <a:ext cx="15361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⑤公网 CLB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9875520" y="3337560"/>
            <a:ext cx="210312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10104120" y="2743200"/>
            <a:ext cx="1627632" cy="1188720"/>
          </a:xfrm>
          <a:prstGeom prst="roundRect">
            <a:avLst>
              <a:gd name="adj" fmla="val 4615"/>
            </a:avLst>
          </a:prstGeom>
          <a:solidFill>
            <a:srgbClr val="EAF1F8"/>
          </a:solidFill>
          <a:ln w="15875">
            <a:solidFill>
              <a:srgbClr val="3FA7B8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0149840" y="2743200"/>
            <a:ext cx="15361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⑥验证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22960" y="42062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加白名单是 SAE 区别于路径 A/B 的最大坑——本节用一整页专门讲（见下页）。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77240" y="4846320"/>
            <a:ext cx="106527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1005840" y="5029200"/>
            <a:ext cx="10241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B2545"/>
                </a:solidFill>
              </a:rPr>
              <a:t>和路径 B（EDAS）比，SAE 的不同：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C2B3A"/>
                </a:solidFill>
              </a:rPr>
              <a:t>不买 ECS（平台按需弹实例）· 按 vCPU·秒计费用多少付多少 · 但实例走弹性网卡 ENI，必须额外加白名单 · 部署 = 上传 jar + 填环境变量（不用 JVM 写 DB）。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3FA7B8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7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C · 详解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先想清楚：哪些模块适合 Serverless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554480"/>
          <a:ext cx="1065276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103120"/>
                <a:gridCol w="3611880"/>
                <a:gridCol w="1828800"/>
              </a:tblGrid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模块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适合 SAE 吗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原因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本课程配比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coffee-app（HTTP 网关）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C729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✅ 很合适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HTTP 触发、无状态，可随流量弹性扩容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C729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最小 1 实例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userorder-provider（Dubbo）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5630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⚠️ 能跑但反直觉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长连接 RPC，实例被回收时调用方瞬间报错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C729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最小 1 实例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expresstrack-provider（Dubbo）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B5630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⚠️ 同上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同上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C729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最小 1 实例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5303520"/>
            <a:ext cx="10652760" cy="868680"/>
          </a:xfrm>
          <a:prstGeom prst="roundRect">
            <a:avLst>
              <a:gd name="adj" fmla="val 6316"/>
            </a:avLst>
          </a:prstGeom>
          <a:solidFill>
            <a:srgbClr val="EAF1F8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960120" y="530352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教学配比：</a:t>
            </a:r>
            <a:pPr indent="0" marL="0">
              <a:buNone/>
            </a:pPr>
            <a:r>
              <a:rPr lang="en-US" sz="13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三个应用都用 1 个实例（provider 必须常驻保住 Dubbo 注册，网关也至少 1 个）。SAE 的价值是免运维 + 按 vCPU·秒计费 + 可按指标弹性扩容，而非缩到 0。生产里 provider 应继续用 EDAS/ECS。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E8A42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C · 关键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⚠️ 最大的坑：内外网三条铁律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463040"/>
            <a:ext cx="1065276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77240" y="1463040"/>
            <a:ext cx="128016" cy="129844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60120" y="1847088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60120" y="18470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91640" y="1572768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永远用内网地址连 RDS / Nacos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91640" y="201168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rm-xxx.mysql.rds.aliyuncs.com:3306 这种内网地址。公网慢、收费、还要申请——SAE 本就在 VPC 里，走内网才对。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77240" y="2944368"/>
            <a:ext cx="1065276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77240" y="2944368"/>
            <a:ext cx="128016" cy="1298448"/>
          </a:xfrm>
          <a:prstGeom prst="rect">
            <a:avLst/>
          </a:prstGeom>
          <a:solidFill>
            <a:srgbClr val="13457A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60120" y="3328416"/>
            <a:ext cx="548640" cy="548640"/>
          </a:xfrm>
          <a:prstGeom prst="ellipse">
            <a:avLst/>
          </a:prstGeom>
          <a:solidFill>
            <a:srgbClr val="13457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60120" y="33284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691640" y="3054096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本地灌数据才用外网地址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3493008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你电脑在公网，第 5 章/资源准备时用 RDS 外网地址 + MySQL Workbench 灌表结构。这一步不必再开外网。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77240" y="4425696"/>
            <a:ext cx="10652760" cy="1298448"/>
          </a:xfrm>
          <a:prstGeom prst="roundRect">
            <a:avLst>
              <a:gd name="adj" fmla="val 5634"/>
            </a:avLst>
          </a:prstGeom>
          <a:solidFill>
            <a:srgbClr val="FFF8EC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77240" y="4425696"/>
            <a:ext cx="128016" cy="1298448"/>
          </a:xfrm>
          <a:prstGeom prst="rect">
            <a:avLst/>
          </a:prstGeom>
          <a:solidFill>
            <a:srgbClr val="E8A427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60120" y="4809744"/>
            <a:ext cx="548640" cy="548640"/>
          </a:xfrm>
          <a:prstGeom prst="ellipse">
            <a:avLst/>
          </a:prstGeom>
          <a:solidFill>
            <a:srgbClr val="E8A427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60120" y="48097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691640" y="4535424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RDS / MSE 白名单要放行 SAE 的 虚拟交换机 网段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691640" y="4974336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白名单是独立于 VPC 的访问控制：同 VPC 网络通，但源 IP 不在白名单仍被拒。SAE 实例 IP 从 虚拟交换机 网段动态分配、会变，把该 虚拟交换机 整个网段补进 RDS 和 MSE 白名单，否则启动报连不上。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22960" y="605332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一句话：地址用内网的，白名单加 SAE 网段的。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3FA7B8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7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C · 步骤 ①②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开通 SAE + 创建命名空间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3258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Dubbo 3.x 在 SAE 必须接 MSE Nacos 专业版（内置 Nacos 不兼容）；注册中心在下一步“创建应用→高级设置”里选，不在命名空间这步。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1874520"/>
            <a:ext cx="585216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60120" y="2011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开通 SAE 服务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88720" y="246888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</a:rPr>
              <a:t>控制台搜 “SAE” → 进 Serverless 应用引擎</a:t>
            </a:r>
            <a:endParaRPr lang="en-US" sz="14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</a:rPr>
              <a:t>首次进勾选服务协议、开通（开通不收费，跑实例才计费）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60120" y="3703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创建命名空间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188720" y="4160520"/>
            <a:ext cx="5303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</a:rPr>
              <a:t>左侧“命名空间”→“创建命名空间”</a:t>
            </a:r>
            <a:endParaRPr lang="en-US" sz="1400" dirty="0"/>
          </a:p>
          <a:p>
            <a:pPr marL="342900" indent="-342900">
              <a:lnSpc>
                <a:spcPct val="110000"/>
              </a:lnSpc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</a:rPr>
              <a:t>名称 coffee-prod-sae；地域与 ECS/RDS/MSE 一致</a:t>
            </a:r>
            <a:endParaRPr lang="en-US" sz="14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400" b="1" dirty="0">
                <a:solidFill>
                  <a:srgbClr val="1C7293"/>
                </a:solidFill>
              </a:rPr>
              <a:t>命名空间只做隔离，不在这里选注册中心（建应用时才选）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0" y="1874520"/>
            <a:ext cx="4572000" cy="4206240"/>
          </a:xfrm>
          <a:prstGeom prst="roundRect">
            <a:avLst>
              <a:gd name="adj" fmla="val 1304"/>
            </a:avLst>
          </a:prstGeom>
          <a:solidFill>
            <a:srgbClr val="EFF3F8"/>
          </a:solidFill>
          <a:ln w="12700">
            <a:solidFill>
              <a:srgbClr val="C9D4E0"/>
            </a:solidFill>
            <a:prstDash val="solid"/>
          </a:ln>
        </p:spPr>
        <p:txBody>
          <a:bodyPr/>
          <a:p/>
        </p:txBody>
      </p:sp>
      <p:pic>
        <p:nvPicPr>
          <p:cNvPr id="16" name="Picture 15" descr="p8051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2876790"/>
            <a:ext cx="4572000" cy="220170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E8A42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C · 关键步骤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RDS + MSE 白名单加 SAE 的 虚拟交换机 网段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3258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这一步做错，应用一定起不来报“连不上 MySQL / Nacos”。务必在部署前做完。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1874520"/>
            <a:ext cx="106527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005840" y="2148840"/>
            <a:ext cx="548640" cy="548640"/>
          </a:xfrm>
          <a:prstGeom prst="ellipse">
            <a:avLst/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0584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737360" y="196596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先查 SAE 要用的 虚拟交换机（VSwitch）网段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737360" y="2395728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VPC 控制台 → 交换机 → 在 ECS 同 VPC 里挑一个可用 IP ≥ 64 的 虚拟交换机 → 复制它的 CIDR 网段（形如 172.16.1.0/24）。后面部署应用也选这个 虚拟交换机。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77240" y="3291840"/>
            <a:ext cx="3429000" cy="2697480"/>
          </a:xfrm>
          <a:prstGeom prst="roundRect">
            <a:avLst>
              <a:gd name="adj" fmla="val 2712"/>
            </a:avLst>
          </a:prstGeom>
          <a:solidFill>
            <a:srgbClr val="EAF1F8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60120" y="34290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改 RDS 白名单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143000" y="3886200"/>
            <a:ext cx="2971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B3A"/>
                </a:solidFill>
              </a:rPr>
              <a:t>实例 → 数据安全性 → 白名单设置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B3A"/>
                </a:solidFill>
              </a:rPr>
              <a:t>点默认分组“修改”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C2B3A"/>
                </a:solidFill>
              </a:rPr>
              <a:t>逗号追加 虚拟交换机 网段 → 确定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343400" y="3291840"/>
            <a:ext cx="3429000" cy="2697480"/>
          </a:xfrm>
          <a:prstGeom prst="roundRect">
            <a:avLst>
              <a:gd name="adj" fmla="val 2712"/>
            </a:avLst>
          </a:prstGeom>
          <a:solidFill>
            <a:srgbClr val="EAF1F8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526280" y="34290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改 MSE 内网白名单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26280" y="388620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B3A"/>
                </a:solidFill>
              </a:rPr>
              <a:t>实例详情 → 网络配置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B3A"/>
                </a:solidFill>
              </a:rPr>
              <a:t>“内网白名单”→“修改”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C2B3A"/>
                </a:solidFill>
              </a:rPr>
              <a:t>追加同一个 虚拟交换机 网段 → 确定</a:t>
            </a:r>
            <a:endParaRPr lang="en-US" sz="1250" dirty="0"/>
          </a:p>
          <a:p>
            <a:pPr indent="0" marL="0">
              <a:buNone/>
            </a:pPr>
            <a:r>
              <a:rPr lang="en-US" sz="1100" b="1" dirty="0">
                <a:solidFill>
                  <a:srgbClr val="B5630A"/>
                </a:solidFill>
              </a:rPr>
              <a:t>路径 B 不用这步（EDAS 用你的 ECS，已在默认白名单）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909560" y="3291840"/>
            <a:ext cx="3520440" cy="2697480"/>
          </a:xfrm>
          <a:prstGeom prst="roundRect">
            <a:avLst>
              <a:gd name="adj" fmla="val 2034"/>
            </a:avLst>
          </a:prstGeom>
          <a:solidFill>
            <a:srgbClr val="EFF3F8"/>
          </a:solidFill>
          <a:ln w="12700">
            <a:solidFill>
              <a:srgbClr val="C9D4E0"/>
            </a:solidFill>
            <a:prstDash val="solid"/>
          </a:ln>
        </p:spPr>
        <p:txBody>
          <a:bodyPr/>
          <a:p/>
        </p:txBody>
      </p:sp>
      <p:pic>
        <p:nvPicPr>
          <p:cNvPr id="22" name="Picture 21" descr="p9800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0" y="3726770"/>
            <a:ext cx="3520440" cy="1827619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3FA7B8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7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C · 步骤 ④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部署订单服务（创建应用 + 环境变量）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3258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创建应用：名称 userorder-sae · 命名空间 coffee-prod-sae · VPC 同 ECS · 虚拟交换机 选已加白名单那个 · 实例数 1 · 0.5C/1G · 部署 JDK17+jar · 高级设置→服务注册发现选「MSE Nacos 专业版」→选你的实例（3 个应用都要选）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20574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环境变量在「高级设置」第②步设；本项目只加一个 ENV=prod（DB 已写进 prod.yml 默认值）</a:t>
            </a:r>
            <a:endParaRPr lang="en-US" sz="14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468880"/>
          <a:ext cx="67665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463040"/>
                <a:gridCol w="320040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</a:rPr>
                        <a:t>环境变量</a:t>
                      </a:r>
                      <a:endParaRPr lang="en-US" sz="13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</a:rPr>
                        <a:t>值</a:t>
                      </a:r>
                      <a:endParaRPr lang="en-US" sz="13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</a:rPr>
                        <a:t>说明</a:t>
                      </a:r>
                      <a:endParaRPr lang="en-US" sz="13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ENV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prod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唯一必填：让 application-prod.yml 生效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DB_HOST / USER / PWD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不用填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B5630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已写进 prod.yml 默认值；打包前填好 RDS 内网地址即可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B254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DUBBO_REGISTRY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不用填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已选「服务注册发现→MSE Nacos 专业版」，SAE 接管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7726680" y="2468880"/>
            <a:ext cx="3703320" cy="2834640"/>
          </a:xfrm>
          <a:prstGeom prst="roundRect">
            <a:avLst>
              <a:gd name="adj" fmla="val 1935"/>
            </a:avLst>
          </a:prstGeom>
          <a:solidFill>
            <a:srgbClr val="EFF3F8"/>
          </a:solidFill>
          <a:ln w="12700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777240" y="5440680"/>
            <a:ext cx="10652760" cy="777240"/>
          </a:xfrm>
          <a:prstGeom prst="roundRect">
            <a:avLst>
              <a:gd name="adj" fmla="val 7059"/>
            </a:avLst>
          </a:prstGeom>
          <a:solidFill>
            <a:srgbClr val="EAF1F8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960120" y="54406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JVM 参数只填 </a:t>
            </a:r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-Xms256m -Xmx512m</a:t>
            </a:r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；看实时日志见 HikariPool Start completed + Nacos 注册成功 = 连上了。</a:t>
            </a:r>
            <a:endParaRPr lang="en-US" sz="1300" dirty="0"/>
          </a:p>
        </p:txBody>
      </p:sp>
      <p:pic>
        <p:nvPicPr>
          <p:cNvPr id="22" name="Picture 21" descr="p9143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3420254"/>
            <a:ext cx="3703320" cy="931892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3FA7B8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7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C · 步骤 ⑤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部署快递 + 网关（实例数各 1）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417320"/>
            <a:ext cx="3383280" cy="2194560"/>
          </a:xfrm>
          <a:prstGeom prst="roundRect">
            <a:avLst>
              <a:gd name="adj" fmla="val 3333"/>
            </a:avLst>
          </a:prstGeom>
          <a:solidFill>
            <a:srgbClr val="EAF1F8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60120" y="1554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快递 expresstrack-sae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143000" y="1993392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3A"/>
                </a:solidFill>
              </a:rPr>
              <a:t>复制订单做法，只改 4 处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3A"/>
                </a:solidFill>
              </a:rPr>
              <a:t>上传 expresstrack 的 jar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3A"/>
                </a:solidFill>
              </a:rPr>
              <a:t>环境变量不用改（同一 RDS）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1C7293"/>
                </a:solidFill>
              </a:rPr>
              <a:t>实例数 1（和 provider 一样常驻）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43400" y="1417320"/>
            <a:ext cx="3383280" cy="2194560"/>
          </a:xfrm>
          <a:prstGeom prst="roundRect">
            <a:avLst>
              <a:gd name="adj" fmla="val 3333"/>
            </a:avLst>
          </a:prstGeom>
          <a:solidFill>
            <a:srgbClr val="FFF6E6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526280" y="1554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网关 coffee-app-sae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526280" y="1993392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3A"/>
                </a:solidFill>
              </a:rPr>
              <a:t>上传 coffee-app 的 jar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C2B3A"/>
                </a:solidFill>
              </a:rPr>
              <a:t>环境变量只填 ENV=prod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C2B3A"/>
                </a:solidFill>
              </a:rPr>
              <a:t>实例数 1（部署后看实时日志）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909560" y="1417320"/>
            <a:ext cx="3520440" cy="2194560"/>
          </a:xfrm>
          <a:prstGeom prst="roundRect">
            <a:avLst>
              <a:gd name="adj" fmla="val 2500"/>
            </a:avLst>
          </a:prstGeom>
          <a:solidFill>
            <a:srgbClr val="EFF3F8"/>
          </a:solidFill>
          <a:ln w="12700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77240" y="3794760"/>
            <a:ext cx="1065276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60120" y="3931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可选：配弹性伸缩，按流量自动加实例（最小仍为 1）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88720" y="4343400"/>
            <a:ext cx="996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</a:rPr>
              <a:t>应用详情 → 应用扩缩 → 弹性伸缩 → 添加指标弹性策略</a:t>
            </a:r>
            <a:endParaRPr lang="en-US" sz="14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</a:rPr>
              <a:t>最小实例数 1 · 最大实例数 3 · 触发指标 CPU &gt; 60% → 保存（流量大自动加实例，回落到 1）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B5630A"/>
                </a:solidFill>
              </a:rPr>
              <a:t>⚠ 创建和弹性里“实例数”最小都是 1，填不了 0。阿里云宣传的“缩容到 0”是 SAE 2.0 高级能力，本课程不用。</a:t>
            </a:r>
            <a:endParaRPr lang="en-US" sz="1400" dirty="0"/>
          </a:p>
        </p:txBody>
      </p:sp>
      <p:pic>
        <p:nvPicPr>
          <p:cNvPr id="19" name="Picture 18" descr="p9250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7795" y="1417320"/>
            <a:ext cx="2603970" cy="219456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3FA7B8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7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C · 步骤 ⑥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给网关加公网 CLB 入口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3258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SAE 应用默认没有公网 IP。前端静态页有 ECS-3 公网 IP，唯独 coffee-app 困在 VPC 里、浏览器又要直接调它——所以公网入口加在 coffee-app（SAE 2.0 现称 CLB，旧称 SLB），不是加在前端。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" y="1874520"/>
            <a:ext cx="6035040" cy="3886200"/>
          </a:xfrm>
          <a:prstGeom prst="roundRect">
            <a:avLst>
              <a:gd name="adj" fmla="val 1882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60120" y="20116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操作（只对 coffee-app-sae 做）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2468880"/>
            <a:ext cx="5486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</a:rPr>
              <a:t>进 coffee-app-sae 详情 → 应用访问设置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</a:rPr>
              <a:t>公网访问 → 添加公网 CLB 访问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</a:rPr>
              <a:t>CLB 实例：新建（让 SAE 自动代购）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0B2545"/>
                </a:solidFill>
              </a:rPr>
              <a:t>协议 HTTP · CLB 端口 80 · 容器端口 8005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</a:rPr>
              <a:t>确定 → 约 1 分钟返回公网 IP/域名，记下来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040880" y="1874520"/>
            <a:ext cx="4389120" cy="3886200"/>
          </a:xfrm>
          <a:prstGeom prst="roundRect">
            <a:avLst>
              <a:gd name="adj" fmla="val 1412"/>
            </a:avLst>
          </a:prstGeom>
          <a:solidFill>
            <a:srgbClr val="EFF3F8"/>
          </a:solidFill>
          <a:ln w="12700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77240" y="5897880"/>
            <a:ext cx="10652760" cy="502920"/>
          </a:xfrm>
          <a:prstGeom prst="roundRect">
            <a:avLst>
              <a:gd name="adj" fmla="val 10909"/>
            </a:avLst>
          </a:prstGeom>
          <a:solidFill>
            <a:srgbClr val="EAF1F8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60120" y="589788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记住：</a:t>
            </a:r>
            <a:pPr indent="0" marL="0">
              <a:buNone/>
            </a:pPr>
            <a:r>
              <a:rPr lang="en-US" sz="12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这个 CLB 域名 = 替代“ECS-3 公网 IP”的新入口，前端 API 指向它；两个 provider 不做这步，只走 Dubbo 内部调用、不暴露公网。</a:t>
            </a:r>
            <a:endParaRPr lang="en-US" sz="1200" dirty="0"/>
          </a:p>
        </p:txBody>
      </p:sp>
      <p:pic>
        <p:nvPicPr>
          <p:cNvPr id="16" name="Picture 15" descr="p8811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2490047"/>
            <a:ext cx="4389120" cy="2655146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3FA7B8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7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C · 验证 &amp; 排错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验证上线 + 3 个最常见报错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417320"/>
            <a:ext cx="5852160" cy="2103120"/>
          </a:xfrm>
          <a:prstGeom prst="roundRect">
            <a:avLst>
              <a:gd name="adj" fmla="val 3478"/>
            </a:avLst>
          </a:prstGeom>
          <a:solidFill>
            <a:srgbClr val="EAF1F8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6012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怎么算成功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2011680"/>
            <a:ext cx="5349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访问 http://&lt;CLB 公网IP&gt;/actuator/health 返回 {"status":"UP"}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C2B3A"/>
                </a:solidFill>
              </a:rPr>
              <a:t>MSE Nacos 服务列表看到 3 个服务（2 个 Dubbo 接口 + coffee-app）</a:t>
            </a:r>
            <a:endParaRPr lang="en-US" sz="130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</a:rPr>
              <a:t>看日志去 SAE 控制台“实时日志”；账单按 vCPU·秒 + GB·秒计，用多少付多少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12280" y="1417320"/>
            <a:ext cx="4617720" cy="2103120"/>
          </a:xfrm>
          <a:prstGeom prst="roundRect">
            <a:avLst>
              <a:gd name="adj" fmla="val 2609"/>
            </a:avLst>
          </a:prstGeom>
          <a:solidFill>
            <a:srgbClr val="EFF3F8"/>
          </a:solidFill>
          <a:ln w="12700">
            <a:solidFill>
              <a:srgbClr val="C9D4E0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77240" y="3703320"/>
            <a:ext cx="106527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77240" y="3703320"/>
            <a:ext cx="109728" cy="731520"/>
          </a:xfrm>
          <a:prstGeom prst="rect">
            <a:avLst/>
          </a:prstGeom>
          <a:solidFill>
            <a:srgbClr val="E8A427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005840" y="370332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Communications link failure（连不上 RDS）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394960" y="3703320"/>
            <a:ext cx="5897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99% 是 RDS 白名单没加 SAE 的 虚拟交换机 网段 → 回第 ③ 步补上。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77240" y="4544568"/>
            <a:ext cx="106527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77240" y="4544568"/>
            <a:ext cx="109728" cy="731520"/>
          </a:xfrm>
          <a:prstGeom prst="rect">
            <a:avLst/>
          </a:prstGeom>
          <a:solidFill>
            <a:srgbClr val="E8A427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005840" y="4544568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Failed to connect to Nacos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394960" y="4544568"/>
            <a:ext cx="5897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同根因：MSE 内网白名单没加 虚拟交换机 网段 → 回第 ③ 步补上。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77240" y="5385816"/>
            <a:ext cx="106527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77240" y="5385816"/>
            <a:ext cx="109728" cy="731520"/>
          </a:xfrm>
          <a:prstGeom prst="rect">
            <a:avLst/>
          </a:prstGeom>
          <a:solidFill>
            <a:srgbClr val="E8A427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005840" y="5385816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✗ 新部署/重启后首次访问等 5–15 秒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394960" y="5385816"/>
            <a:ext cx="5897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Serverless 实例冷启动正常现象（现拉镜像、启 JVM）。教学演示前先 curl 一次预热。</a:t>
            </a:r>
            <a:endParaRPr lang="en-US" sz="1250" dirty="0"/>
          </a:p>
        </p:txBody>
      </p:sp>
      <p:pic>
        <p:nvPicPr>
          <p:cNvPr id="25" name="Picture 24" descr="p3655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1633883"/>
            <a:ext cx="4617720" cy="1669993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8A98A8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PATH A · 进阶 / 选读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 A：ECS 自管（命令行，进阶）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325880"/>
            <a:ext cx="10652760" cy="594360"/>
          </a:xfrm>
          <a:prstGeom prst="roundRect">
            <a:avLst>
              <a:gd name="adj" fmla="val 9231"/>
            </a:avLst>
          </a:prstGeom>
          <a:solidFill>
            <a:srgbClr val="ECEFF3"/>
          </a:solidFill>
          <a:ln w="12700">
            <a:solidFill>
              <a:srgbClr val="8A98A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60120" y="132588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🔧 进阶/选读：要在终端敲一连串命令。给想搞懂“jar 到底怎么被 java -jar 跑起来”的同学。初学者先做路径 B。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7240" y="210312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77240" y="2103120"/>
            <a:ext cx="109728" cy="1188720"/>
          </a:xfrm>
          <a:prstGeom prst="rect">
            <a:avLst/>
          </a:prstGeom>
          <a:solidFill>
            <a:srgbClr val="8A98A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51560" y="22402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 JDK 17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51560" y="270662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apt/dnf 装 openjdk-17，建 ~/coffee 目录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210312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217920" y="2103120"/>
            <a:ext cx="109728" cy="1188720"/>
          </a:xfrm>
          <a:prstGeom prst="rect">
            <a:avLst/>
          </a:prstGeom>
          <a:solidFill>
            <a:srgbClr val="8A98A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492240" y="22402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上传文件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92240" y="270662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实例详情页“上传/下载文件”传 jar + 配置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77240" y="347472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77240" y="3474720"/>
            <a:ext cx="109728" cy="1188720"/>
          </a:xfrm>
          <a:prstGeom prst="rect">
            <a:avLst/>
          </a:prstGeom>
          <a:solidFill>
            <a:srgbClr val="8A98A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051560" y="3611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改 NACOS_ADDR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51560" y="407822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manage.sh 顶部填自己的 MSE Nacos 地址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17920" y="347472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217920" y="3474720"/>
            <a:ext cx="109728" cy="1188720"/>
          </a:xfrm>
          <a:prstGeom prst="rect">
            <a:avLst/>
          </a:prstGeom>
          <a:solidFill>
            <a:srgbClr val="8A98A8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492240" y="3611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启动服务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492240" y="407822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./manage.sh start（自动跳过本机没有的 jar）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77240" y="484632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777240" y="4846320"/>
            <a:ext cx="109728" cy="1188720"/>
          </a:xfrm>
          <a:prstGeom prst="rect">
            <a:avLst/>
          </a:prstGeom>
          <a:solidFill>
            <a:srgbClr val="8A98A8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51560" y="4983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开安全组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051560" y="544982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ECS-1:7001 / ECS-2:8001 / ECS-3:8005+80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217920" y="4846320"/>
            <a:ext cx="521208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6217920" y="4846320"/>
            <a:ext cx="109728" cy="1188720"/>
          </a:xfrm>
          <a:prstGeom prst="rect">
            <a:avLst/>
          </a:prstGeom>
          <a:solidFill>
            <a:srgbClr val="8A98A8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492240" y="4983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日常管理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492240" y="544982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manage.sh status / logs / restart / stop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FRONTEND · STEP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前端①：本地构建 dist（告诉它后端地址）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三条路径前端都一样，只有构建时 VUE_APP_BASE_URL 指向的后端地址不同。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173736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进 app-admin/ 设环境变量再构建（按你的路径选地址）：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7240" y="2148840"/>
            <a:ext cx="6766560" cy="1371600"/>
          </a:xfrm>
          <a:prstGeom prst="roundRect">
            <a:avLst>
              <a:gd name="adj" fmla="val 3333"/>
            </a:avLst>
          </a:prstGeom>
          <a:solidFill>
            <a:srgbClr val="0E2236"/>
          </a:solidFill>
          <a:ln w="12700">
            <a:solidFill>
              <a:srgbClr val="1C3A52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41832" y="2221992"/>
            <a:ext cx="643737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app-admin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Windows CMD：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 VUE_APP_BASE_URL=http://x.x.x.x:8005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build   # 生成 app-admin/dist/</a:t>
            </a:r>
            <a:endParaRPr lang="en-US" sz="11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2148840"/>
          <a:ext cx="3657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字段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 地址填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路径 A / B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ECS-3 公网 IP:8005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路径 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C2B3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SAE 公网 CLB 域名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822960" y="36576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PowerShell 用 $env:VUE_APP_BASE_URL="..."；Mac/Linux 用 export VUE_APP_BASE_URL=...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77240" y="4160520"/>
            <a:ext cx="10652760" cy="868680"/>
          </a:xfrm>
          <a:prstGeom prst="roundRect">
            <a:avLst>
              <a:gd name="adj" fmla="val 6316"/>
            </a:avLst>
          </a:prstGeom>
          <a:solidFill>
            <a:srgbClr val="EAF1F8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960120" y="416052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再压成 zip：</a:t>
            </a:r>
            <a:pPr indent="0" marL="0">
              <a:buNone/>
            </a:pPr>
            <a:r>
              <a:rPr lang="en-US" sz="130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右键 dist 文件夹 → 压缩，得到 dist.zip（一次传一个文件最稳）。下一页上传到 ECS-3。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22960" y="52120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VUE_APP_BASE_URL 会被永久写进打包后的 JS；不设默认 localhost:8005（用户浏览器会找自己电脑，失败）。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FRONTEND · STEP 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前端②：部署到 ECS-3（两种方式）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1280160"/>
            <a:ext cx="5212080" cy="3657600"/>
          </a:xfrm>
          <a:prstGeom prst="roundRect">
            <a:avLst>
              <a:gd name="adj" fmla="val 2000"/>
            </a:avLst>
          </a:prstGeom>
          <a:solidFill>
            <a:srgbClr val="FFF6E6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60120" y="1417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方式 A · 宝塔面板  ⭐ 推荐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188720" y="1874520"/>
            <a:ext cx="4663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C2B3A"/>
                </a:solidFill>
              </a:rPr>
              <a:t>买 ECS-3 时镜像市场选预装“宝塔面板”镜像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C2B3A"/>
                </a:solidFill>
              </a:rPr>
              <a:t>面板登录 → 网站 → 添加站点（域名先填 ECS-3 公网 IP）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C2B3A"/>
                </a:solidFill>
              </a:rPr>
              <a:t>进站点“文件”→ 上传 dist.zip → 右键解压 → 内容放到站点根目录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b="1" dirty="0">
                <a:solidFill>
                  <a:srgbClr val="1C7293"/>
                </a:solidFill>
              </a:rPr>
              <a:t>站点设置 → 伪静态 → 选 Vue/history（刷新不 404）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17920" y="1280160"/>
            <a:ext cx="5212080" cy="3657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00800" y="14173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方式 B · 命令行  🔧 进阶（裸镜像）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0" y="18288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实例详情页上传 dist.zip + deploy/coffee-admin.conf 到 /root/，整段粘：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0" y="2331720"/>
            <a:ext cx="4846320" cy="1874520"/>
          </a:xfrm>
          <a:prstGeom prst="roundRect">
            <a:avLst>
              <a:gd name="adj" fmla="val 2439"/>
            </a:avLst>
          </a:prstGeom>
          <a:solidFill>
            <a:srgbClr val="0E2236"/>
          </a:solidFill>
          <a:ln w="12700">
            <a:solidFill>
              <a:srgbClr val="1C3A52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65392" y="2404872"/>
            <a:ext cx="4517136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apt install -y nginx unzip   # 阿里云镜像用 dnf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-p /var/www/coffee-admin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unzip -o /root/dist.zip -d /var/www/coffee-admin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 /root/coffee-admin.conf \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/etc/nginx/conf.d/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CFE6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 -t &amp;&amp; systemctl enable --now nginx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77240" y="5120640"/>
            <a:ext cx="10652760" cy="868680"/>
          </a:xfrm>
          <a:prstGeom prst="roundRect">
            <a:avLst>
              <a:gd name="adj" fmla="val 6316"/>
            </a:avLst>
          </a:prstGeom>
          <a:solidFill>
            <a:srgbClr val="EAF1F8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60120" y="51206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最后开端口 + 验证：</a:t>
            </a:r>
            <a:pPr indent="0" marL="0">
              <a:buNone/>
            </a:pPr>
            <a:r>
              <a:rPr lang="en-US" sz="1250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ECS-3 安全组入方向放通 80（三路径都要）→ 浏览器开 http://&lt;ECS-3 IP&gt; 看到登录页 ✅。为什么不用 OSS：复用已学 Nginx，免去 OSS 的 Bucket 权限/404 兜底。（跨域由网关 @CrossOrigin 放行）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ARCHITECTURE · A/B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架构回顾：路径 A / B 拓扑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937760" y="1417320"/>
            <a:ext cx="2286000" cy="548640"/>
          </a:xfrm>
          <a:prstGeom prst="roundRect">
            <a:avLst>
              <a:gd name="adj" fmla="val 10000"/>
            </a:avLst>
          </a:prstGeom>
          <a:solidFill>
            <a:srgbClr val="EEF3FA"/>
          </a:solidFill>
          <a:ln w="15875">
            <a:solidFill>
              <a:srgbClr val="13457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983480" y="14173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用户浏览器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080760" y="1965960"/>
            <a:ext cx="0" cy="41148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806440" y="200710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 :80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023360" y="2514600"/>
            <a:ext cx="4114800" cy="777240"/>
          </a:xfrm>
          <a:prstGeom prst="roundRect">
            <a:avLst>
              <a:gd name="adj" fmla="val 7059"/>
            </a:avLst>
          </a:prstGeom>
          <a:solidFill>
            <a:srgbClr val="FFF6E6"/>
          </a:solidFill>
          <a:ln w="15875">
            <a:solidFill>
              <a:srgbClr val="E8A427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069080" y="251460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ECS-3 · Nginx:80 (前端) + coffee-app:8005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80760" y="3291840"/>
            <a:ext cx="0" cy="36576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0" y="33101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Dubbo RPC（VPC 内网）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91840" y="3794760"/>
            <a:ext cx="2743200" cy="731520"/>
          </a:xfrm>
          <a:prstGeom prst="roundRect">
            <a:avLst>
              <a:gd name="adj" fmla="val 7500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337560" y="37947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ECS-1 · userorder:7001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09360" y="3794760"/>
            <a:ext cx="2743200" cy="731520"/>
          </a:xfrm>
          <a:prstGeom prst="roundRect">
            <a:avLst>
              <a:gd name="adj" fmla="val 7500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355080" y="37947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ECS-2 · expresstrack:8001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4526280"/>
            <a:ext cx="822960" cy="502920"/>
          </a:xfrm>
          <a:prstGeom prst="line">
            <a:avLst/>
          </a:prstGeom>
          <a:noFill/>
          <a:ln w="25400">
            <a:solidFill>
              <a:srgbClr val="13457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 flipH="1">
            <a:off x="6858000" y="4526280"/>
            <a:ext cx="822960" cy="502920"/>
          </a:xfrm>
          <a:prstGeom prst="line">
            <a:avLst/>
          </a:prstGeom>
          <a:noFill/>
          <a:ln w="25400">
            <a:solidFill>
              <a:srgbClr val="13457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937760" y="5166360"/>
            <a:ext cx="2286000" cy="685800"/>
          </a:xfrm>
          <a:prstGeom prst="roundRect">
            <a:avLst>
              <a:gd name="adj" fmla="val 8000"/>
            </a:avLst>
          </a:prstGeom>
          <a:solidFill>
            <a:srgbClr val="E7EEF6"/>
          </a:solidFill>
          <a:ln w="15875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983480" y="516636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RDS MySQL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286000" y="4983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JDBC（VPC 内网）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692640" y="3794760"/>
            <a:ext cx="2011680" cy="731520"/>
          </a:xfrm>
          <a:prstGeom prst="roundRect">
            <a:avLst>
              <a:gd name="adj" fmla="val 7500"/>
            </a:avLst>
          </a:prstGeom>
          <a:solidFill>
            <a:srgbClr val="F0F4F9"/>
          </a:solidFill>
          <a:ln w="15875">
            <a:solidFill>
              <a:srgbClr val="3FA7B8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9738360" y="379476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MSE Nacos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601200" y="45720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台 ECS 都注册到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 Nacos 互相发现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2960" y="60807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 + 网关在 ECS-3，两个 provider 各占一台，全部在同一 VPC 内网互通。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3FA7B8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A7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ARCHITECTURE · C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架构回顾：路径 C（SAE）拓扑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937760" y="1371600"/>
            <a:ext cx="2286000" cy="548640"/>
          </a:xfrm>
          <a:prstGeom prst="roundRect">
            <a:avLst>
              <a:gd name="adj" fmla="val 10000"/>
            </a:avLst>
          </a:prstGeom>
          <a:solidFill>
            <a:srgbClr val="EEF3FA"/>
          </a:solidFill>
          <a:ln w="15875">
            <a:solidFill>
              <a:srgbClr val="13457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983480" y="13716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用户浏览器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 flipH="1">
            <a:off x="2743200" y="1920240"/>
            <a:ext cx="914400" cy="50292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229600" y="1920240"/>
            <a:ext cx="914400" cy="502920"/>
          </a:xfrm>
          <a:prstGeom prst="line">
            <a:avLst/>
          </a:prstGeom>
          <a:noFill/>
          <a:ln w="25400">
            <a:solidFill>
              <a:srgbClr val="E8A4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828800" y="21488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取前端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09828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B5630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API 请求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463040" y="2514600"/>
            <a:ext cx="3108960" cy="731520"/>
          </a:xfrm>
          <a:prstGeom prst="roundRect">
            <a:avLst>
              <a:gd name="adj" fmla="val 7500"/>
            </a:avLst>
          </a:prstGeom>
          <a:solidFill>
            <a:srgbClr val="FFF6E6"/>
          </a:solidFill>
          <a:ln w="15875">
            <a:solidFill>
              <a:srgbClr val="E8A427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508760" y="25146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ECS-3 · Nginx 托管前端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863840" y="2514600"/>
            <a:ext cx="3291840" cy="731520"/>
          </a:xfrm>
          <a:prstGeom prst="roundRect">
            <a:avLst>
              <a:gd name="adj" fmla="val 7500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909560" y="25146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SAE 公网 CLB（API 入口）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509760" y="3246120"/>
            <a:ext cx="0" cy="36576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863840" y="3611880"/>
            <a:ext cx="3291840" cy="685800"/>
          </a:xfrm>
          <a:prstGeom prst="roundRect">
            <a:avLst>
              <a:gd name="adj" fmla="val 8000"/>
            </a:avLst>
          </a:prstGeom>
          <a:solidFill>
            <a:srgbClr val="F0F4F9"/>
          </a:solidFill>
          <a:ln w="15875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909560" y="361188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SAE · coffee-app（实例数 1）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509760" y="4297680"/>
            <a:ext cx="0" cy="32004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9235440" y="429310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Dubbo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766560" y="4617720"/>
            <a:ext cx="2103120" cy="685800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812280" y="4617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SAE userorder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9052560" y="4617720"/>
            <a:ext cx="2194560" cy="685800"/>
          </a:xfrm>
          <a:prstGeom prst="roundRect">
            <a:avLst>
              <a:gd name="adj" fmla="val 8000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9098280" y="461772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SAE expresstrack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 flipH="1">
            <a:off x="7406640" y="5303520"/>
            <a:ext cx="1463040" cy="411480"/>
          </a:xfrm>
          <a:prstGeom prst="line">
            <a:avLst/>
          </a:prstGeom>
          <a:noFill/>
          <a:ln w="25400">
            <a:solidFill>
              <a:srgbClr val="13457A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0" y="5715000"/>
            <a:ext cx="2286000" cy="640080"/>
          </a:xfrm>
          <a:prstGeom prst="roundRect">
            <a:avLst>
              <a:gd name="adj" fmla="val 8571"/>
            </a:avLst>
          </a:prstGeom>
          <a:solidFill>
            <a:srgbClr val="E7EEF6"/>
          </a:solidFill>
          <a:ln w="15875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89320" y="57150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RDS MySQL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1463040" y="4023360"/>
            <a:ext cx="2743200" cy="685800"/>
          </a:xfrm>
          <a:prstGeom prst="roundRect">
            <a:avLst>
              <a:gd name="adj" fmla="val 8000"/>
            </a:avLst>
          </a:prstGeom>
          <a:solidFill>
            <a:srgbClr val="F0F4F9"/>
          </a:solidFill>
          <a:ln w="15875">
            <a:solidFill>
              <a:srgbClr val="3FA7B8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1508760" y="40233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MSE Nacos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1371600" y="4754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个 SAE 应用注册到同一 Nacos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22960" y="63550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变的只是“服务跑在哪”和“API 入口”；前端在 ECS-3、Nacos/RDS/Dubbo 关系都不变。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COMPARE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三路径对比速查表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9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554480"/>
          <a:ext cx="10652760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2743200"/>
                <a:gridCol w="2743200"/>
                <a:gridCol w="27432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维度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 · ECS 🔧进阶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B · EDAS ⭐推荐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 · SAE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操作方式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A98A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终端敲命令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5630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控制台点鼠标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729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控制台点鼠标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谁装 JDK / 起进程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你自己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EDAS 平台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SAE 平台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服务治理可视化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✗（看日志）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 EDAS 治理页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有限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按用量计费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✗（ECS 包月）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✗（ECS 包月）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 vCPU·秒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配置传参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命令行参数+YAML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JVM 参数+profile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2B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环境变量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B2545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本课程定位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8A98A8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进阶/选读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5630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推荐主线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C729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推荐(弹性)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一句话：学技术看底层选 A；企业生产 + 服务治理选 B（默认）；流量稀疏想省钱选 C。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66928" y="475488"/>
            <a:ext cx="146304" cy="566928"/>
          </a:xfrm>
          <a:prstGeom prst="rect">
            <a:avLst/>
          </a:prstGeom>
          <a:solidFill>
            <a:srgbClr val="E8A42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41248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A4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· 第12章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603504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正式做法：云效流水线（点击式）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509760" y="6437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第11章 · 多路径上云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8A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13258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手工“打 jar→上传→启动”是为了理解原理；日常迭代一律走流水线——git push 后网页点几下全自动。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2194560"/>
            <a:ext cx="2057400" cy="1005840"/>
          </a:xfrm>
          <a:prstGeom prst="roundRect">
            <a:avLst>
              <a:gd name="adj" fmla="val 5455"/>
            </a:avLst>
          </a:prstGeom>
          <a:solidFill>
            <a:srgbClr val="FFF6E6"/>
          </a:solidFill>
          <a:ln w="15875">
            <a:solidFill>
              <a:srgbClr val="E8A42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219456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 push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852928" y="2697480"/>
            <a:ext cx="182880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3063240" y="2194560"/>
            <a:ext cx="2057400" cy="1005840"/>
          </a:xfrm>
          <a:prstGeom prst="roundRect">
            <a:avLst>
              <a:gd name="adj" fmla="val 5455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108960" y="219456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云效拉代码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138928" y="2697480"/>
            <a:ext cx="182880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349240" y="2194560"/>
            <a:ext cx="2057400" cy="1005840"/>
          </a:xfrm>
          <a:prstGeom prst="roundRect">
            <a:avLst>
              <a:gd name="adj" fmla="val 5455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394960" y="219456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自动 mvn 构建 jar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424928" y="2697480"/>
            <a:ext cx="182880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635240" y="2194560"/>
            <a:ext cx="2057400" cy="1005840"/>
          </a:xfrm>
          <a:prstGeom prst="roundRect">
            <a:avLst>
              <a:gd name="adj" fmla="val 5455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680960" y="219456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发布到 EDAS/SAE/ECS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710928" y="2697480"/>
            <a:ext cx="182880" cy="0"/>
          </a:xfrm>
          <a:prstGeom prst="line">
            <a:avLst/>
          </a:prstGeom>
          <a:noFill/>
          <a:ln w="25400">
            <a:solidFill>
              <a:srgbClr val="0B2545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9921240" y="2194560"/>
            <a:ext cx="2057400" cy="1005840"/>
          </a:xfrm>
          <a:prstGeom prst="roundRect">
            <a:avLst>
              <a:gd name="adj" fmla="val 5455"/>
            </a:avLst>
          </a:prstGeom>
          <a:solidFill>
            <a:srgbClr val="EAF1F8"/>
          </a:solidFill>
          <a:ln w="15875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9966960" y="219456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C2B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前端发布到 ECS-3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77240" y="3749040"/>
            <a:ext cx="106527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2"/>
            </a:solidFill>
            <a:prstDash val="solid"/>
          </a:ln>
          <a:effectLst>
            <a:outerShdw sx="100000" sy="100000" kx="0" ky="0" algn="bl" rotWithShape="0" blurRad="88900" dist="38100" dir="8100000">
              <a:srgbClr val="0B2545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005840" y="3931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它替你做了第 11 章哪些手工活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234440" y="4389120"/>
            <a:ext cx="9966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</a:rPr>
              <a:t>本地 mvn deploy/package  →  流水线“Java 构建上传”自动跑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</a:rPr>
              <a:t>实例详情页上传 jar  →  “主机部署 / EDAS 发布 / SAE 发布”自动调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C2B3A"/>
                </a:solidFill>
              </a:rPr>
              <a:t>终端 ./manage.sh restart  →  部署任务里自动执行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b="1" dirty="0">
                <a:solidFill>
                  <a:srgbClr val="B5630A"/>
                </a:solidFill>
              </a:rPr>
              <a:t>推荐后端走路径 B（EDAS）流水线作默认 —— 全程零手敲命令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E8A4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6400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本章小结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0515600" cy="1005840"/>
          </a:xfrm>
          <a:prstGeom prst="roundRect">
            <a:avLst>
              <a:gd name="adj" fmla="val 5455"/>
            </a:avLst>
          </a:prstGeom>
          <a:solidFill>
            <a:srgbClr val="112E54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51560" y="1856232"/>
            <a:ext cx="502920" cy="502920"/>
          </a:xfrm>
          <a:prstGeom prst="ellipse">
            <a:avLst/>
          </a:prstGeom>
          <a:solidFill>
            <a:srgbClr val="E8A427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51560" y="18562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709928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同一份 jar，换地方跑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852160" y="1709928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 0 行改动，靠环境变量注入云上地址——这就是云原生“环境无关”。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2770632"/>
            <a:ext cx="10515600" cy="1005840"/>
          </a:xfrm>
          <a:prstGeom prst="roundRect">
            <a:avLst>
              <a:gd name="adj" fmla="val 5455"/>
            </a:avLst>
          </a:prstGeom>
          <a:solidFill>
            <a:srgbClr val="112E54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051560" y="3026664"/>
            <a:ext cx="502920" cy="502920"/>
          </a:xfrm>
          <a:prstGeom prst="ellipse">
            <a:avLst/>
          </a:prstGeom>
          <a:solidFill>
            <a:srgbClr val="E8A427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51560" y="30266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783080" y="288036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主线：能点鼠标就不敲命令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852160" y="288036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默认走 EDAS（点击部署）；路径 A 命令行降为进阶/选读。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" y="3941064"/>
            <a:ext cx="10515600" cy="1005840"/>
          </a:xfrm>
          <a:prstGeom prst="roundRect">
            <a:avLst>
              <a:gd name="adj" fmla="val 5455"/>
            </a:avLst>
          </a:prstGeom>
          <a:solidFill>
            <a:srgbClr val="112E54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51560" y="4197096"/>
            <a:ext cx="502920" cy="502920"/>
          </a:xfrm>
          <a:prstGeom prst="ellipse">
            <a:avLst/>
          </a:prstGeom>
          <a:solidFill>
            <a:srgbClr val="E8A427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051560" y="41970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783080" y="4050792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前端统一 ECS-3 Nginx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852160" y="4050792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推荐预装宝塔镜像点鼠标建站；不用 OSS，复用已学 Nginx。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22960" y="5111496"/>
            <a:ext cx="10515600" cy="1005840"/>
          </a:xfrm>
          <a:prstGeom prst="roundRect">
            <a:avLst>
              <a:gd name="adj" fmla="val 5455"/>
            </a:avLst>
          </a:prstGeom>
          <a:solidFill>
            <a:srgbClr val="112E54"/>
          </a:solidFill>
          <a:ln w="12700">
            <a:solidFill>
              <a:srgbClr val="1C7293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051560" y="5367528"/>
            <a:ext cx="502920" cy="502920"/>
          </a:xfrm>
          <a:prstGeom prst="ellipse">
            <a:avLst/>
          </a:prstGeom>
          <a:solidFill>
            <a:srgbClr val="E8A427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51560" y="5367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783080" y="5221224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正式迭代走云效流水线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5852160" y="5221224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 push 自动构建发布，把手工每一步交给机器。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第11章 把微服务部署到阿里云（多路径上云）</dc:title>
  <dc:subject>PptxGenJS Presentation</dc:subject>
  <dc:creator>coffeeliu</dc:creator>
  <cp:lastModifiedBy>coffeeliu</cp:lastModifiedBy>
  <cp:revision>1</cp:revision>
  <dcterms:created xsi:type="dcterms:W3CDTF">2026-06-05T11:00:19Z</dcterms:created>
  <dcterms:modified xsi:type="dcterms:W3CDTF">2026-06-05T11:00:19Z</dcterms:modified>
</cp:coreProperties>
</file>